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5455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-914400"/>
            <a:ext cx="3291840" cy="3291840"/>
          </a:xfrm>
          <a:prstGeom prst="ellipse">
            <a:avLst/>
          </a:prstGeom>
          <a:solidFill>
            <a:srgbClr val="E8963A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 LOGISTICS GMBH  •  PORTFOLIO PROJECT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Operations Analytics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Bottleneck Diagnosis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105,000 delivery records into a data-backed diagnosis of why 15% of deliveries were late — and what to do about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1750">
            <a:solidFill>
              <a:srgbClr val="E8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Anurag Panwar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4132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Business Analyst  |  MySQL · SQL · Power BI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LogiFlow's late deliveries were hurting customers —</a:t>
            </a:r>
            <a:endParaRPr lang="en-US" sz="2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nobody knew exactly where the problem started.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778240" y="822960"/>
            <a:ext cx="274320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778240" y="1051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RATE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778240" y="1554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E8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6200" dirty="0"/>
          </a:p>
        </p:txBody>
      </p:sp>
      <p:sp>
        <p:nvSpPr>
          <p:cNvPr id="7" name="Text 5"/>
          <p:cNvSpPr txBox="1"/>
          <p:nvPr/>
        </p:nvSpPr>
        <p:spPr>
          <a:xfrm>
            <a:off x="877824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German warehouses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2615184" cy="2148840"/>
          </a:xfrm>
          <a:prstGeom prst="roundRect">
            <a:avLst>
              <a:gd name="adj" fmla="val 4255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96112" y="3959352"/>
            <a:ext cx="457200" cy="73152"/>
          </a:xfrm>
          <a:prstGeom prst="rect">
            <a:avLst/>
          </a:prstGeom>
          <a:solidFill>
            <a:srgbClr val="E8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96112" y="4160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105,000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46634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records analysed, spanning a full year of operations (Sep 2025 – Aug 2026)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29584" y="3703320"/>
            <a:ext cx="2615184" cy="2148840"/>
          </a:xfrm>
          <a:prstGeom prst="roundRect">
            <a:avLst>
              <a:gd name="adj" fmla="val 4255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85616" y="3959352"/>
            <a:ext cx="457200" cy="73152"/>
          </a:xfrm>
          <a:prstGeom prst="rect">
            <a:avLst/>
          </a:prstGeom>
          <a:solidFill>
            <a:srgbClr val="E8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785616" y="4160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warehouses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3785616" y="46634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Berlin, Munich, Hamburg, Frankfurt, Cologne, Stuttgart — each with its own routes and drivers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19088" y="3703320"/>
            <a:ext cx="2615184" cy="2148840"/>
          </a:xfrm>
          <a:prstGeom prst="roundRect">
            <a:avLst>
              <a:gd name="adj" fmla="val 4255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675120" y="3959352"/>
            <a:ext cx="457200" cy="73152"/>
          </a:xfrm>
          <a:prstGeom prst="rect">
            <a:avLst/>
          </a:prstGeom>
          <a:solidFill>
            <a:srgbClr val="E8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675120" y="4160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question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46634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15% late rate spread evenly across the network, or concentrated somewhere specific?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9052560" y="3066288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that question was the goal of this project — using SQL and Power BI to trace the 15% back to its source.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 — Delivery Operations Analytics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TOOLS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a data-backed diagnosis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15184" cy="3246120"/>
          </a:xfrm>
          <a:prstGeom prst="roundRect">
            <a:avLst>
              <a:gd name="adj" fmla="val 349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SQL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91840"/>
            <a:ext cx="21579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MySQL database and loaded 105,000 records, cleaning realistic data-quality issues (missing distance, cost, and delivery-time values) with NULLIF and STR_TO_DATE.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3529584" y="1874520"/>
            <a:ext cx="2615184" cy="3246120"/>
          </a:xfrm>
          <a:prstGeom prst="roundRect">
            <a:avLst>
              <a:gd name="adj" fmla="val 349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758184" y="21031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758184" y="274320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3758184" y="3291840"/>
            <a:ext cx="21579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SQL aggregation queries comparing warehouses, routes, and delivery outcomes to isolate exactly where and why delays occur.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419088" y="1874520"/>
            <a:ext cx="2615184" cy="3246120"/>
          </a:xfrm>
          <a:prstGeom prst="roundRect">
            <a:avLst>
              <a:gd name="adj" fmla="val 349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647688" y="21031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647688" y="274320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Visualisation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647688" y="3291840"/>
            <a:ext cx="21579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Power BI dashboard with custom DAX measures — KPI cards, warehouse/route breakdowns, and a 12-month trend.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9308592" y="1874520"/>
            <a:ext cx="2615184" cy="3246120"/>
          </a:xfrm>
          <a:prstGeom prst="roundRect">
            <a:avLst>
              <a:gd name="adj" fmla="val 349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537192" y="21031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537192" y="274320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9537192" y="3291840"/>
            <a:ext cx="21579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findings into prioritised, business-impact-driven recommendations for management.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40080" y="5440680"/>
            <a:ext cx="877824" cy="38404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0080" y="5440680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82496" y="5440680"/>
            <a:ext cx="680314" cy="38404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1682496" y="5440680"/>
            <a:ext cx="6803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27402" y="5440680"/>
            <a:ext cx="1174090" cy="38404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2527402" y="5440680"/>
            <a:ext cx="11740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66083" y="5440680"/>
            <a:ext cx="680314" cy="38404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3866083" y="5440680"/>
            <a:ext cx="6803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10989" y="5440680"/>
            <a:ext cx="2161642" cy="38404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4710989" y="5440680"/>
            <a:ext cx="21616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(Agile/Scrum)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37222" y="5440680"/>
            <a:ext cx="1075334" cy="384048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7037222" y="5440680"/>
            <a:ext cx="10753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Draw.io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 — Delivery Operations Analytics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01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Hamburg is a systemic warehouse bottleneck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057400" y="2075688"/>
            <a:ext cx="3154680" cy="274320"/>
          </a:xfrm>
          <a:prstGeom prst="rect">
            <a:avLst/>
          </a:prstGeom>
          <a:solidFill>
            <a:srgbClr val="ED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57400" y="2075688"/>
            <a:ext cx="3106146" cy="274320"/>
          </a:xfrm>
          <a:prstGeom prst="rect">
            <a:avLst/>
          </a:prstGeom>
          <a:solidFill>
            <a:srgbClr val="E8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236698" y="196596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25.6%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32888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Frankfurt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57400" y="2642616"/>
            <a:ext cx="3154680" cy="274320"/>
          </a:xfrm>
          <a:prstGeom prst="rect">
            <a:avLst/>
          </a:prstGeom>
          <a:solidFill>
            <a:srgbClr val="ED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057400" y="2642616"/>
            <a:ext cx="1844274" cy="2743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974826" y="2532888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15.2%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099816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057400" y="3209544"/>
            <a:ext cx="3154680" cy="274320"/>
          </a:xfrm>
          <a:prstGeom prst="rect">
            <a:avLst/>
          </a:prstGeom>
          <a:solidFill>
            <a:srgbClr val="ED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057400" y="3209544"/>
            <a:ext cx="1771474" cy="2743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902026" y="3099816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666744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Stuttgart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057400" y="3776472"/>
            <a:ext cx="3154680" cy="274320"/>
          </a:xfrm>
          <a:prstGeom prst="rect">
            <a:avLst/>
          </a:prstGeom>
          <a:solidFill>
            <a:srgbClr val="ED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057400" y="3776472"/>
            <a:ext cx="1735074" cy="2743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865626" y="3666744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14.3%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233672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Cologne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057400" y="4343400"/>
            <a:ext cx="3154680" cy="274320"/>
          </a:xfrm>
          <a:prstGeom prst="rect">
            <a:avLst/>
          </a:prstGeom>
          <a:solidFill>
            <a:srgbClr val="ED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057400" y="4343400"/>
            <a:ext cx="1650140" cy="2743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3780692" y="4233672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13.6%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80060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(best)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057400" y="4910328"/>
            <a:ext cx="3154680" cy="274320"/>
          </a:xfrm>
          <a:prstGeom prst="rect">
            <a:avLst/>
          </a:prstGeom>
          <a:solidFill>
            <a:srgbClr val="EDEE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057400" y="4910328"/>
            <a:ext cx="1128405" cy="274320"/>
          </a:xfrm>
          <a:prstGeom prst="rect">
            <a:avLst/>
          </a:prstGeom>
          <a:solidFill>
            <a:srgbClr val="3FA7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3258957" y="480060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9.3%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 by warehouse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192024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537960" y="210312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Hamburg's late rate is nearly 3x Berlin's — the network's best-performing warehouse.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235440" y="192024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2.7x</a:t>
            </a:r>
            <a:endParaRPr lang="en-US" sz="4600" dirty="0"/>
          </a:p>
        </p:txBody>
      </p:sp>
      <p:sp>
        <p:nvSpPr>
          <p:cNvPr id="32" name="Shape 30"/>
          <p:cNvSpPr/>
          <p:nvPr/>
        </p:nvSpPr>
        <p:spPr>
          <a:xfrm>
            <a:off x="6263640" y="361188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537960" y="3749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20.96 min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372160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Hamburg's average warehouse loading time — vs ~12 min everywhere else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484632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537960" y="4983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32.02 min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8366760" y="495604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Hamburg's average order processing time — vs ~18 min everywhere else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delay happens before the parcel leaves the warehouse — pointing to internal operations, not traffic or driving distance.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 — Delivery Operations Analytics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02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second, separate problem: isolated outlier routes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Hamburg, four routes underperform badly despite their home warehouses running normally — pointing to route-specific causes (traffic, distance, driver assignment) rather than a warehouse-wide issue.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743200"/>
            <a:ext cx="502920" cy="502920"/>
          </a:xfrm>
          <a:prstGeom prst="ellipse">
            <a:avLst/>
          </a:prstGeom>
          <a:solidFill>
            <a:srgbClr val="E8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COL-R6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Cologne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0690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33.8%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599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rate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64992" y="251460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93592" y="2743200"/>
            <a:ext cx="502920" cy="502920"/>
          </a:xfrm>
          <a:prstGeom prst="ellipse">
            <a:avLst/>
          </a:prstGeom>
          <a:solidFill>
            <a:srgbClr val="E8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593592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FRA-R1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Frankfurt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593592" y="40690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33.6%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3593592" y="4599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9904" y="251460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18504" y="2743200"/>
            <a:ext cx="502920" cy="502920"/>
          </a:xfrm>
          <a:prstGeom prst="ellipse">
            <a:avLst/>
          </a:prstGeom>
          <a:solidFill>
            <a:srgbClr val="E8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318504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318504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MUN-R4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318504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Munich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318504" y="40690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33.5%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318504" y="4599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rate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814816" y="251460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043416" y="2743200"/>
            <a:ext cx="502920" cy="502920"/>
          </a:xfrm>
          <a:prstGeom prst="ellipse">
            <a:avLst/>
          </a:prstGeom>
          <a:solidFill>
            <a:srgbClr val="E89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9043416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9043416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STU-R2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9043416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Stuttgart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9043416" y="40690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33.5%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9043416" y="4599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rate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" y="507492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914400" y="507492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a single warehouse-wide fix wouldn't touch these routes — each needs its own investigation into drivers, traffic, or distance.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 — Delivery Operations Analytics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delivery isn't just an ops problem —</a:t>
            </a:r>
            <a:endParaRPr lang="en-US" sz="2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 revenue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578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5603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COMPLAINT RATE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632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31546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30632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35.3%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4434840"/>
            <a:ext cx="4709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461772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late delivery makes a complaint roughly 12x more likely than an on-time one.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2286000"/>
            <a:ext cx="52578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537960" y="25603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 RATE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0632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55.5%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31546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30632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30.9%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37960" y="4434840"/>
            <a:ext cx="4709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537960" y="461772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24.6-point drop in repeat customers — directly tying operations to customer lifetime value.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 — Delivery Operations Analytics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interactive Power BI dashboard to track it going forward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479363" y="1490472"/>
            <a:ext cx="9232969" cy="4654296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ptx_assets/dashboard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091" y="1600200"/>
            <a:ext cx="9013513" cy="4434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 — Delivery Operations Analytics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problems, two separate action plans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19476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96112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9280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Hamburg's warehouse operations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560320"/>
            <a:ext cx="4745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staffing, shift patterns, and workflow layout, benchmarked against Berlin — the highest-impact fix available.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19672" y="19476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19672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89280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the 4 outlier routes individually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2560320"/>
            <a:ext cx="4745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COL-R6, FRA-R1, MUN-R4, STU-R2 need driver- and traffic-specific review, not a warehouse-wide fix.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96112" y="41879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96112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13308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this as a retention initiative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4800600"/>
            <a:ext cx="4745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 cost ~25 points of repeat-customer rate — this is a revenue issue for senior management, not only an ops one.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19672" y="41879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519672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9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13308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ongoing performance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4800600"/>
            <a:ext cx="4745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Power BI dashboard monthly to confirm whether interventions are actually working.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LogiFlow — Delivery Operations Analytics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41B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188720" y="4754880"/>
            <a:ext cx="2926080" cy="2926080"/>
          </a:xfrm>
          <a:prstGeom prst="ellipse">
            <a:avLst/>
          </a:prstGeom>
          <a:solidFill>
            <a:srgbClr val="E8963A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80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walk through the SQL, the DAX measures, or the full analysis in more detail.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2011680" cy="0"/>
          </a:xfrm>
          <a:prstGeom prst="line">
            <a:avLst/>
          </a:prstGeom>
          <a:noFill/>
          <a:ln w="31750">
            <a:solidFill>
              <a:srgbClr val="E89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Anurag Panwar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2245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Anuragg.panwarr@gmail.com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60857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linkedin.com/in/panwaranurag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99262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github.com/Anuragg26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753</Words>
  <Application>Microsoft Office PowerPoint</Application>
  <PresentationFormat>Widescreen</PresentationFormat>
  <Paragraphs>148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anurag panwar</cp:lastModifiedBy>
  <cp:revision>2</cp:revision>
  <dcterms:created xsi:type="dcterms:W3CDTF">2026-09-06T15:47:20Z</dcterms:created>
  <dcterms:modified xsi:type="dcterms:W3CDTF">2026-09-06T20:24:25Z</dcterms:modified>
</cp:coreProperties>
</file>